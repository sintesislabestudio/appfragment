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4" r:id="rId3"/>
    <p:sldId id="275" r:id="rId4"/>
    <p:sldId id="276" r:id="rId5"/>
    <p:sldId id="277" r:id="rId6"/>
    <p:sldId id="279" r:id="rId7"/>
    <p:sldId id="278" r:id="rId8"/>
    <p:sldId id="280" r:id="rId9"/>
    <p:sldId id="281" r:id="rId10"/>
    <p:sldId id="282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A4D14-27BA-48B1-8EC8-88CC1AC2C01C}" v="230" dt="2025-09-08T14:44:02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322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45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637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5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194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272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895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225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52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8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5537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676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496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871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059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64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79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805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Android+Kotlin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 err="1"/>
              <a:t>Intro</a:t>
            </a:r>
            <a:r>
              <a:rPr lang="es-ES" dirty="0"/>
              <a:t> a </a:t>
            </a:r>
            <a:r>
              <a:rPr lang="es-ES" dirty="0" err="1"/>
              <a:t>Fragments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Taller de Nuevas Tecnologías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FEF31-B008-C286-1DC9-41DCAAE7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02CBD-7C3C-F0D7-F7DC-FE7CE91D5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Fragments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260556-085E-47ED-5F10-891E3EB30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ea typeface="+mn-lt"/>
                <a:cs typeface="+mn-lt"/>
              </a:rPr>
              <a:t>Un </a:t>
            </a:r>
            <a:r>
              <a:rPr lang="es-ES" b="1" dirty="0" err="1">
                <a:ea typeface="+mn-lt"/>
                <a:cs typeface="+mn-lt"/>
              </a:rPr>
              <a:t>Fragment</a:t>
            </a:r>
            <a:r>
              <a:rPr lang="es-ES" dirty="0">
                <a:ea typeface="+mn-lt"/>
                <a:cs typeface="+mn-lt"/>
              </a:rPr>
              <a:t> es una porción modular de una interfaz de usuario (UI).</a:t>
            </a:r>
            <a:endParaRPr lang="es-ES" dirty="0" err="1"/>
          </a:p>
          <a:p>
            <a:r>
              <a:rPr lang="es-ES" dirty="0">
                <a:ea typeface="+mn-lt"/>
                <a:cs typeface="+mn-lt"/>
              </a:rPr>
              <a:t>Vive dentro de una </a:t>
            </a:r>
            <a:r>
              <a:rPr lang="es-ES" b="1" dirty="0" err="1">
                <a:ea typeface="+mn-lt"/>
                <a:cs typeface="+mn-lt"/>
              </a:rPr>
              <a:t>Activity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Tiene su propio: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Ciclo de vida</a:t>
            </a:r>
            <a:endParaRPr lang="es-ES" dirty="0"/>
          </a:p>
          <a:p>
            <a:r>
              <a:rPr lang="es-ES" dirty="0" err="1">
                <a:ea typeface="+mn-lt"/>
                <a:cs typeface="+mn-lt"/>
              </a:rPr>
              <a:t>Layout</a:t>
            </a:r>
            <a:r>
              <a:rPr lang="es-ES" dirty="0">
                <a:ea typeface="+mn-lt"/>
                <a:cs typeface="+mn-lt"/>
              </a:rPr>
              <a:t> (XML)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Lógica (Java/</a:t>
            </a:r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)</a:t>
            </a:r>
          </a:p>
          <a:p>
            <a:r>
              <a:rPr lang="es-ES" dirty="0">
                <a:ea typeface="+mn-lt"/>
                <a:cs typeface="+mn-lt"/>
              </a:rPr>
              <a:t>Se puede combinar con otros </a:t>
            </a:r>
            <a:r>
              <a:rPr lang="es-ES" dirty="0" err="1">
                <a:ea typeface="+mn-lt"/>
                <a:cs typeface="+mn-lt"/>
              </a:rPr>
              <a:t>fragments</a:t>
            </a:r>
            <a:r>
              <a:rPr lang="es-ES" dirty="0">
                <a:ea typeface="+mn-lt"/>
                <a:cs typeface="+mn-lt"/>
              </a:rPr>
              <a:t> en una sola </a:t>
            </a:r>
            <a:r>
              <a:rPr lang="es-ES" dirty="0" err="1">
                <a:ea typeface="+mn-lt"/>
                <a:cs typeface="+mn-lt"/>
              </a:rPr>
              <a:t>activity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9876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0C41A-75A2-C5D4-8825-A97D6822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Usos de </a:t>
            </a:r>
            <a:r>
              <a:rPr lang="es-ES" dirty="0" err="1"/>
              <a:t>Fragments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A07A4C-5135-927A-4404-61AA571FB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ea typeface="+mn-lt"/>
                <a:cs typeface="+mn-lt"/>
              </a:rPr>
              <a:t>Modularidad: divide pantallas grandes en partes reutilizables.</a:t>
            </a:r>
            <a:endParaRPr lang="es-ES"/>
          </a:p>
          <a:p>
            <a:r>
              <a:rPr lang="es-ES" dirty="0">
                <a:ea typeface="+mn-lt"/>
                <a:cs typeface="+mn-lt"/>
              </a:rPr>
              <a:t>Adaptabilidad: soporte fácil para </a:t>
            </a:r>
            <a:r>
              <a:rPr lang="es-ES" dirty="0" err="1">
                <a:ea typeface="+mn-lt"/>
                <a:cs typeface="+mn-lt"/>
              </a:rPr>
              <a:t>tablets</a:t>
            </a:r>
            <a:r>
              <a:rPr lang="es-ES" dirty="0">
                <a:ea typeface="+mn-lt"/>
                <a:cs typeface="+mn-lt"/>
              </a:rPr>
              <a:t> (pantallas grandes).</a:t>
            </a:r>
          </a:p>
          <a:p>
            <a:r>
              <a:rPr lang="es-ES">
                <a:ea typeface="+mn-lt"/>
                <a:cs typeface="+mn-lt"/>
              </a:rPr>
              <a:t>Navegación moderna: base del </a:t>
            </a:r>
            <a:r>
              <a:rPr lang="es-ES" err="1">
                <a:ea typeface="+mn-lt"/>
                <a:cs typeface="+mn-lt"/>
              </a:rPr>
              <a:t>Navigation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Component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Reutilización: el mismo </a:t>
            </a:r>
            <a:r>
              <a:rPr lang="es-ES" dirty="0" err="1">
                <a:ea typeface="+mn-lt"/>
                <a:cs typeface="+mn-lt"/>
              </a:rPr>
              <a:t>fragment</a:t>
            </a:r>
            <a:r>
              <a:rPr lang="es-ES" dirty="0">
                <a:ea typeface="+mn-lt"/>
                <a:cs typeface="+mn-lt"/>
              </a:rPr>
              <a:t> se puede usar en múltiples </a:t>
            </a:r>
            <a:r>
              <a:rPr lang="es-ES" dirty="0" err="1">
                <a:ea typeface="+mn-lt"/>
                <a:cs typeface="+mn-lt"/>
              </a:rPr>
              <a:t>activities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56707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F4F36-9274-1A97-BBC3-5BC362B9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Ciclo de Vida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4E3337-251C-EBD2-687A-A19AB732F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s-ES" dirty="0" err="1">
                <a:latin typeface="Consolas"/>
              </a:rPr>
              <a:t>onAttach</a:t>
            </a:r>
            <a:r>
              <a:rPr lang="es-ES" dirty="0">
                <a:latin typeface="Consolas"/>
              </a:rPr>
              <a:t>()</a:t>
            </a:r>
            <a:endParaRPr lang="es-ES" dirty="0"/>
          </a:p>
          <a:p>
            <a:r>
              <a:rPr lang="es-ES" err="1">
                <a:latin typeface="Consolas"/>
              </a:rPr>
              <a:t>onCreate</a:t>
            </a:r>
            <a:r>
              <a:rPr lang="es-ES">
                <a:latin typeface="Consolas"/>
              </a:rPr>
              <a:t>()</a:t>
            </a:r>
            <a:endParaRPr lang="es-ES"/>
          </a:p>
          <a:p>
            <a:r>
              <a:rPr lang="es-ES" err="1">
                <a:latin typeface="Consolas"/>
              </a:rPr>
              <a:t>onCreateView</a:t>
            </a:r>
            <a:r>
              <a:rPr lang="es-ES">
                <a:latin typeface="Consolas"/>
              </a:rPr>
              <a:t>()</a:t>
            </a:r>
            <a:endParaRPr lang="es-ES"/>
          </a:p>
          <a:p>
            <a:r>
              <a:rPr lang="es-ES" dirty="0" err="1">
                <a:latin typeface="Consolas"/>
              </a:rPr>
              <a:t>onViewCreated</a:t>
            </a:r>
            <a:r>
              <a:rPr lang="es-ES" dirty="0">
                <a:latin typeface="Consolas"/>
              </a:rPr>
              <a:t>()</a:t>
            </a:r>
            <a:endParaRPr lang="es-ES" dirty="0"/>
          </a:p>
          <a:p>
            <a:r>
              <a:rPr lang="es-ES" dirty="0" err="1">
                <a:latin typeface="Consolas"/>
              </a:rPr>
              <a:t>onStart</a:t>
            </a:r>
            <a:r>
              <a:rPr lang="es-ES" dirty="0">
                <a:latin typeface="Consolas"/>
              </a:rPr>
              <a:t>()</a:t>
            </a:r>
            <a:endParaRPr lang="es-ES" dirty="0"/>
          </a:p>
          <a:p>
            <a:r>
              <a:rPr lang="es-ES" dirty="0" err="1">
                <a:latin typeface="Consolas"/>
              </a:rPr>
              <a:t>onResume</a:t>
            </a:r>
            <a:r>
              <a:rPr lang="es-ES" dirty="0">
                <a:latin typeface="Consolas"/>
              </a:rPr>
              <a:t>()</a:t>
            </a:r>
            <a:endParaRPr lang="es-ES" dirty="0"/>
          </a:p>
          <a:p>
            <a:r>
              <a:rPr lang="es-ES" dirty="0" err="1">
                <a:latin typeface="Consolas"/>
              </a:rPr>
              <a:t>onPause</a:t>
            </a:r>
            <a:r>
              <a:rPr lang="es-ES" dirty="0">
                <a:latin typeface="Consolas"/>
              </a:rPr>
              <a:t>()</a:t>
            </a:r>
            <a:endParaRPr lang="es-ES" dirty="0"/>
          </a:p>
          <a:p>
            <a:r>
              <a:rPr lang="es-ES" dirty="0" err="1">
                <a:latin typeface="Consolas"/>
              </a:rPr>
              <a:t>onStop</a:t>
            </a:r>
            <a:r>
              <a:rPr lang="es-ES" dirty="0">
                <a:latin typeface="Consolas"/>
              </a:rPr>
              <a:t>()</a:t>
            </a:r>
            <a:endParaRPr lang="es-ES" dirty="0"/>
          </a:p>
          <a:p>
            <a:r>
              <a:rPr lang="es-ES" dirty="0" err="1">
                <a:latin typeface="Consolas"/>
              </a:rPr>
              <a:t>onDestroyView</a:t>
            </a:r>
            <a:r>
              <a:rPr lang="es-ES" dirty="0">
                <a:latin typeface="Consolas"/>
              </a:rPr>
              <a:t>()</a:t>
            </a:r>
            <a:endParaRPr lang="es-ES" dirty="0"/>
          </a:p>
          <a:p>
            <a:r>
              <a:rPr lang="es-ES" dirty="0" err="1">
                <a:latin typeface="Consolas"/>
              </a:rPr>
              <a:t>onDestroy</a:t>
            </a:r>
            <a:r>
              <a:rPr lang="es-ES" dirty="0">
                <a:latin typeface="Consolas"/>
              </a:rPr>
              <a:t>()</a:t>
            </a:r>
            <a:endParaRPr lang="es-ES" dirty="0"/>
          </a:p>
          <a:p>
            <a:r>
              <a:rPr lang="es-ES" err="1">
                <a:latin typeface="Consolas"/>
              </a:rPr>
              <a:t>onDetach</a:t>
            </a:r>
            <a:r>
              <a:rPr lang="es-ES">
                <a:latin typeface="Consolas"/>
              </a:rPr>
              <a:t>()</a:t>
            </a:r>
            <a:endParaRPr lang="es-E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s-ES" dirty="0">
                <a:ea typeface="+mn-lt"/>
                <a:cs typeface="+mn-lt"/>
              </a:rPr>
              <a:t>Muy parecido al de una </a:t>
            </a:r>
            <a:r>
              <a:rPr lang="es-ES" dirty="0" err="1">
                <a:ea typeface="+mn-lt"/>
                <a:cs typeface="+mn-lt"/>
              </a:rPr>
              <a:t>Activity</a:t>
            </a:r>
            <a:r>
              <a:rPr lang="es-ES" dirty="0">
                <a:ea typeface="+mn-lt"/>
                <a:cs typeface="+mn-lt"/>
              </a:rPr>
              <a:t>, pero con métodos adicionales para la vista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9659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79C7D-5076-0DCB-C20C-D59EABED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4EDF40-1EB3-475C-FCBD-1AE1998C2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 err="1">
                <a:latin typeface="Consolas"/>
              </a:rPr>
              <a:t>Fragment</a:t>
            </a:r>
            <a:r>
              <a:rPr lang="es-ES" dirty="0">
                <a:ea typeface="+mn-lt"/>
                <a:cs typeface="+mn-lt"/>
              </a:rPr>
              <a:t> (clase)</a:t>
            </a:r>
            <a:endParaRPr lang="es-ES" dirty="0"/>
          </a:p>
          <a:p>
            <a:r>
              <a:rPr lang="es-ES" err="1">
                <a:latin typeface="Consolas"/>
              </a:rPr>
              <a:t>layout</a:t>
            </a:r>
            <a:r>
              <a:rPr lang="es-ES">
                <a:ea typeface="+mn-lt"/>
                <a:cs typeface="+mn-lt"/>
              </a:rPr>
              <a:t> XML</a:t>
            </a:r>
            <a:endParaRPr lang="es-ES"/>
          </a:p>
          <a:p>
            <a:r>
              <a:rPr lang="es-ES" dirty="0">
                <a:ea typeface="+mn-lt"/>
                <a:cs typeface="+mn-lt"/>
              </a:rPr>
              <a:t>Se debe agregar a una </a:t>
            </a:r>
            <a:r>
              <a:rPr lang="es-ES" dirty="0" err="1">
                <a:latin typeface="Consolas"/>
              </a:rPr>
              <a:t>Activity</a:t>
            </a:r>
            <a:r>
              <a:rPr lang="es-ES" dirty="0">
                <a:ea typeface="+mn-lt"/>
                <a:cs typeface="+mn-lt"/>
              </a:rPr>
              <a:t> (estáticamente o dinámicamente)</a:t>
            </a:r>
            <a:endParaRPr lang="es-ES" dirty="0"/>
          </a:p>
          <a:p>
            <a:endParaRPr lang="es-ES" b="1" dirty="0"/>
          </a:p>
          <a:p>
            <a:r>
              <a:rPr lang="es-ES" b="1" dirty="0"/>
              <a:t>Archivos necesarios</a:t>
            </a:r>
            <a:endParaRPr lang="es-ES" dirty="0"/>
          </a:p>
          <a:p>
            <a:pPr lvl="1">
              <a:buFont typeface="Courier New" charset="2"/>
              <a:buChar char="o"/>
            </a:pPr>
            <a:r>
              <a:rPr lang="es-ES" b="1" err="1">
                <a:ea typeface="+mn-lt"/>
                <a:cs typeface="+mn-lt"/>
              </a:rPr>
              <a:t>Fragment</a:t>
            </a:r>
            <a:r>
              <a:rPr lang="es-ES" b="1" dirty="0">
                <a:ea typeface="+mn-lt"/>
                <a:cs typeface="+mn-lt"/>
              </a:rPr>
              <a:t> </a:t>
            </a:r>
            <a:r>
              <a:rPr lang="es-ES" b="1" err="1">
                <a:ea typeface="+mn-lt"/>
                <a:cs typeface="+mn-lt"/>
              </a:rPr>
              <a:t>class</a:t>
            </a:r>
            <a:r>
              <a:rPr lang="es-ES">
                <a:ea typeface="+mn-lt"/>
                <a:cs typeface="+mn-lt"/>
              </a:rPr>
              <a:t> → </a:t>
            </a:r>
            <a:r>
              <a:rPr lang="es-ES" err="1">
                <a:latin typeface="Consolas"/>
              </a:rPr>
              <a:t>MiFragment.kt</a:t>
            </a:r>
            <a:r>
              <a:rPr lang="es-ES">
                <a:ea typeface="+mn-lt"/>
                <a:cs typeface="+mn-lt"/>
              </a:rPr>
              <a:t> / </a:t>
            </a:r>
            <a:r>
              <a:rPr lang="es-ES">
                <a:latin typeface="Consolas"/>
              </a:rPr>
              <a:t>MiFragment.java</a:t>
            </a:r>
            <a:endParaRPr lang="es-ES"/>
          </a:p>
          <a:p>
            <a:pPr lvl="1">
              <a:buFont typeface="Courier New" charset="2"/>
              <a:buChar char="o"/>
            </a:pPr>
            <a:r>
              <a:rPr lang="es-ES" b="1" err="1">
                <a:ea typeface="+mn-lt"/>
                <a:cs typeface="+mn-lt"/>
              </a:rPr>
              <a:t>Layout</a:t>
            </a:r>
            <a:r>
              <a:rPr lang="es-ES" b="1" dirty="0">
                <a:ea typeface="+mn-lt"/>
                <a:cs typeface="+mn-lt"/>
              </a:rPr>
              <a:t> XML</a:t>
            </a:r>
            <a:r>
              <a:rPr lang="es-ES" dirty="0">
                <a:ea typeface="+mn-lt"/>
                <a:cs typeface="+mn-lt"/>
              </a:rPr>
              <a:t> → </a:t>
            </a:r>
            <a:r>
              <a:rPr lang="es-ES" dirty="0">
                <a:latin typeface="Consolas"/>
              </a:rPr>
              <a:t>fragment_mi.xml</a:t>
            </a:r>
            <a:endParaRPr lang="es-ES"/>
          </a:p>
          <a:p>
            <a:pPr lvl="1">
              <a:buFont typeface="Courier New" charset="2"/>
              <a:buChar char="o"/>
            </a:pPr>
            <a:r>
              <a:rPr lang="es-ES" b="1" err="1">
                <a:ea typeface="+mn-lt"/>
                <a:cs typeface="+mn-lt"/>
              </a:rPr>
              <a:t>Activity</a:t>
            </a:r>
            <a:r>
              <a:rPr lang="es-ES" b="1" dirty="0">
                <a:ea typeface="+mn-lt"/>
                <a:cs typeface="+mn-lt"/>
              </a:rPr>
              <a:t> contenedora</a:t>
            </a:r>
            <a:r>
              <a:rPr lang="es-ES" dirty="0">
                <a:ea typeface="+mn-lt"/>
                <a:cs typeface="+mn-lt"/>
              </a:rPr>
              <a:t> → </a:t>
            </a:r>
            <a:r>
              <a:rPr lang="es-ES" err="1">
                <a:latin typeface="Consolas"/>
              </a:rPr>
              <a:t>MainActivity</a:t>
            </a:r>
            <a:endParaRPr lang="es-ES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125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58549-E0B5-23C9-33EB-C79D8321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</a:t>
            </a:r>
            <a:r>
              <a:rPr lang="es-ES"/>
              <a:t>Basico: Layout XML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F99FE4-4DE1-D2DB-796F-2731CF18B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&lt;!-- res/</a:t>
            </a:r>
            <a:r>
              <a:rPr lang="es-ES" err="1">
                <a:latin typeface="Consolas"/>
                <a:ea typeface="+mn-lt"/>
                <a:cs typeface="+mn-lt"/>
              </a:rPr>
              <a:t>layout</a:t>
            </a:r>
            <a:r>
              <a:rPr lang="es-ES" dirty="0">
                <a:latin typeface="Consolas"/>
                <a:ea typeface="+mn-lt"/>
                <a:cs typeface="+mn-lt"/>
              </a:rPr>
              <a:t>/fragment_mi.xml --&gt;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&lt;</a:t>
            </a:r>
            <a:r>
              <a:rPr lang="es-ES" err="1">
                <a:latin typeface="Consolas"/>
                <a:ea typeface="+mn-lt"/>
                <a:cs typeface="+mn-lt"/>
              </a:rPr>
              <a:t>FrameLayout</a:t>
            </a:r>
            <a:r>
              <a:rPr lang="es-ES" dirty="0">
                <a:latin typeface="Consolas"/>
                <a:ea typeface="+mn-lt"/>
                <a:cs typeface="+mn-lt"/>
              </a:rPr>
              <a:t> </a:t>
            </a:r>
            <a:r>
              <a:rPr lang="es-ES" err="1">
                <a:latin typeface="Consolas"/>
                <a:ea typeface="+mn-lt"/>
                <a:cs typeface="+mn-lt"/>
              </a:rPr>
              <a:t>xmlns:android</a:t>
            </a:r>
            <a:r>
              <a:rPr lang="es-ES" dirty="0">
                <a:latin typeface="Consolas"/>
                <a:ea typeface="+mn-lt"/>
                <a:cs typeface="+mn-lt"/>
              </a:rPr>
              <a:t>="http://schemas.android.com/</a:t>
            </a:r>
            <a:r>
              <a:rPr lang="es-ES" err="1">
                <a:latin typeface="Consolas"/>
                <a:ea typeface="+mn-lt"/>
                <a:cs typeface="+mn-lt"/>
              </a:rPr>
              <a:t>apk</a:t>
            </a:r>
            <a:r>
              <a:rPr lang="es-ES" dirty="0">
                <a:latin typeface="Consolas"/>
                <a:ea typeface="+mn-lt"/>
                <a:cs typeface="+mn-lt"/>
              </a:rPr>
              <a:t>/</a:t>
            </a:r>
            <a:r>
              <a:rPr lang="es-ES" err="1">
                <a:latin typeface="Consolas"/>
                <a:ea typeface="+mn-lt"/>
                <a:cs typeface="+mn-lt"/>
              </a:rPr>
              <a:t>res</a:t>
            </a:r>
            <a:r>
              <a:rPr lang="es-ES" dirty="0">
                <a:latin typeface="Consolas"/>
                <a:ea typeface="+mn-lt"/>
                <a:cs typeface="+mn-lt"/>
              </a:rPr>
              <a:t>/</a:t>
            </a:r>
            <a:r>
              <a:rPr lang="es-ES" err="1">
                <a:latin typeface="Consolas"/>
                <a:ea typeface="+mn-lt"/>
                <a:cs typeface="+mn-lt"/>
              </a:rPr>
              <a:t>android</a:t>
            </a:r>
            <a:r>
              <a:rPr lang="es-ES" dirty="0">
                <a:latin typeface="Consolas"/>
                <a:ea typeface="+mn-lt"/>
                <a:cs typeface="+mn-lt"/>
              </a:rPr>
              <a:t>"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   </a:t>
            </a:r>
            <a:r>
              <a:rPr lang="es-ES" err="1">
                <a:latin typeface="Consolas"/>
                <a:ea typeface="+mn-lt"/>
                <a:cs typeface="+mn-lt"/>
              </a:rPr>
              <a:t>android:layout_width</a:t>
            </a:r>
            <a:r>
              <a:rPr lang="es-ES" dirty="0">
                <a:latin typeface="Consolas"/>
                <a:ea typeface="+mn-lt"/>
                <a:cs typeface="+mn-lt"/>
              </a:rPr>
              <a:t>="</a:t>
            </a:r>
            <a:r>
              <a:rPr lang="es-ES" err="1">
                <a:latin typeface="Consolas"/>
                <a:ea typeface="+mn-lt"/>
                <a:cs typeface="+mn-lt"/>
              </a:rPr>
              <a:t>match_parent</a:t>
            </a:r>
            <a:r>
              <a:rPr lang="es-ES" dirty="0">
                <a:latin typeface="Consolas"/>
                <a:ea typeface="+mn-lt"/>
                <a:cs typeface="+mn-lt"/>
              </a:rPr>
              <a:t>"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   </a:t>
            </a:r>
            <a:r>
              <a:rPr lang="es-ES" err="1">
                <a:latin typeface="Consolas"/>
                <a:ea typeface="+mn-lt"/>
                <a:cs typeface="+mn-lt"/>
              </a:rPr>
              <a:t>android:layout_height</a:t>
            </a:r>
            <a:r>
              <a:rPr lang="es-ES" dirty="0">
                <a:latin typeface="Consolas"/>
                <a:ea typeface="+mn-lt"/>
                <a:cs typeface="+mn-lt"/>
              </a:rPr>
              <a:t>="</a:t>
            </a:r>
            <a:r>
              <a:rPr lang="es-ES" err="1">
                <a:latin typeface="Consolas"/>
                <a:ea typeface="+mn-lt"/>
                <a:cs typeface="+mn-lt"/>
              </a:rPr>
              <a:t>match_parent</a:t>
            </a:r>
            <a:r>
              <a:rPr lang="es-ES" dirty="0">
                <a:latin typeface="Consolas"/>
                <a:ea typeface="+mn-lt"/>
                <a:cs typeface="+mn-lt"/>
              </a:rPr>
              <a:t>"&gt;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  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   &lt;</a:t>
            </a:r>
            <a:r>
              <a:rPr lang="es-ES" err="1">
                <a:latin typeface="Consolas"/>
                <a:ea typeface="+mn-lt"/>
                <a:cs typeface="+mn-lt"/>
              </a:rPr>
              <a:t>TextView</a:t>
            </a:r>
            <a:endParaRPr lang="es-ES" err="1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       </a:t>
            </a:r>
            <a:r>
              <a:rPr lang="es-ES" err="1">
                <a:latin typeface="Consolas"/>
                <a:ea typeface="+mn-lt"/>
                <a:cs typeface="+mn-lt"/>
              </a:rPr>
              <a:t>android:id</a:t>
            </a:r>
            <a:r>
              <a:rPr lang="es-ES" dirty="0">
                <a:latin typeface="Consolas"/>
                <a:ea typeface="+mn-lt"/>
                <a:cs typeface="+mn-lt"/>
              </a:rPr>
              <a:t>="@+id/</a:t>
            </a:r>
            <a:r>
              <a:rPr lang="es-ES" err="1">
                <a:latin typeface="Consolas"/>
                <a:ea typeface="+mn-lt"/>
                <a:cs typeface="+mn-lt"/>
              </a:rPr>
              <a:t>tvMensaje</a:t>
            </a:r>
            <a:r>
              <a:rPr lang="es-ES" dirty="0">
                <a:latin typeface="Consolas"/>
                <a:ea typeface="+mn-lt"/>
                <a:cs typeface="+mn-lt"/>
              </a:rPr>
              <a:t>"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       </a:t>
            </a:r>
            <a:r>
              <a:rPr lang="es-ES" err="1">
                <a:latin typeface="Consolas"/>
                <a:ea typeface="+mn-lt"/>
                <a:cs typeface="+mn-lt"/>
              </a:rPr>
              <a:t>android:text</a:t>
            </a:r>
            <a:r>
              <a:rPr lang="es-ES" dirty="0">
                <a:latin typeface="Consolas"/>
                <a:ea typeface="+mn-lt"/>
                <a:cs typeface="+mn-lt"/>
              </a:rPr>
              <a:t>="Hola desde el </a:t>
            </a:r>
            <a:r>
              <a:rPr lang="es-ES" err="1">
                <a:latin typeface="Consolas"/>
                <a:ea typeface="+mn-lt"/>
                <a:cs typeface="+mn-lt"/>
              </a:rPr>
              <a:t>Fragment</a:t>
            </a:r>
            <a:r>
              <a:rPr lang="es-ES" dirty="0">
                <a:latin typeface="Consolas"/>
                <a:ea typeface="+mn-lt"/>
                <a:cs typeface="+mn-lt"/>
              </a:rPr>
              <a:t>"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       </a:t>
            </a:r>
            <a:r>
              <a:rPr lang="es-ES" err="1">
                <a:latin typeface="Consolas"/>
                <a:ea typeface="+mn-lt"/>
                <a:cs typeface="+mn-lt"/>
              </a:rPr>
              <a:t>android:layout_gravity</a:t>
            </a:r>
            <a:r>
              <a:rPr lang="es-ES" dirty="0">
                <a:latin typeface="Consolas"/>
                <a:ea typeface="+mn-lt"/>
                <a:cs typeface="+mn-lt"/>
              </a:rPr>
              <a:t>="center"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       </a:t>
            </a:r>
            <a:r>
              <a:rPr lang="es-ES" err="1">
                <a:latin typeface="Consolas"/>
                <a:ea typeface="+mn-lt"/>
                <a:cs typeface="+mn-lt"/>
              </a:rPr>
              <a:t>android:textSize</a:t>
            </a:r>
            <a:r>
              <a:rPr lang="es-ES" dirty="0">
                <a:latin typeface="Consolas"/>
                <a:ea typeface="+mn-lt"/>
                <a:cs typeface="+mn-lt"/>
              </a:rPr>
              <a:t>="18sp"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       </a:t>
            </a:r>
            <a:r>
              <a:rPr lang="es-ES" err="1">
                <a:latin typeface="Consolas"/>
                <a:ea typeface="+mn-lt"/>
                <a:cs typeface="+mn-lt"/>
              </a:rPr>
              <a:t>android:layout_width</a:t>
            </a:r>
            <a:r>
              <a:rPr lang="es-ES" dirty="0">
                <a:latin typeface="Consolas"/>
                <a:ea typeface="+mn-lt"/>
                <a:cs typeface="+mn-lt"/>
              </a:rPr>
              <a:t>="</a:t>
            </a:r>
            <a:r>
              <a:rPr lang="es-ES" err="1">
                <a:latin typeface="Consolas"/>
                <a:ea typeface="+mn-lt"/>
                <a:cs typeface="+mn-lt"/>
              </a:rPr>
              <a:t>wrap_content</a:t>
            </a:r>
            <a:r>
              <a:rPr lang="es-ES" dirty="0">
                <a:latin typeface="Consolas"/>
                <a:ea typeface="+mn-lt"/>
                <a:cs typeface="+mn-lt"/>
              </a:rPr>
              <a:t>"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       </a:t>
            </a:r>
            <a:r>
              <a:rPr lang="es-ES" err="1">
                <a:latin typeface="Consolas"/>
                <a:ea typeface="+mn-lt"/>
                <a:cs typeface="+mn-lt"/>
              </a:rPr>
              <a:t>android:layout_height</a:t>
            </a:r>
            <a:r>
              <a:rPr lang="es-ES" dirty="0">
                <a:latin typeface="Consolas"/>
                <a:ea typeface="+mn-lt"/>
                <a:cs typeface="+mn-lt"/>
              </a:rPr>
              <a:t>="</a:t>
            </a:r>
            <a:r>
              <a:rPr lang="es-ES" err="1">
                <a:latin typeface="Consolas"/>
                <a:ea typeface="+mn-lt"/>
                <a:cs typeface="+mn-lt"/>
              </a:rPr>
              <a:t>wrap_content</a:t>
            </a:r>
            <a:r>
              <a:rPr lang="es-ES" dirty="0">
                <a:latin typeface="Consolas"/>
                <a:ea typeface="+mn-lt"/>
                <a:cs typeface="+mn-lt"/>
              </a:rPr>
              <a:t>"/&gt;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&lt;/</a:t>
            </a:r>
            <a:r>
              <a:rPr lang="es-ES" err="1">
                <a:latin typeface="Consolas"/>
                <a:ea typeface="+mn-lt"/>
                <a:cs typeface="+mn-lt"/>
              </a:rPr>
              <a:t>FrameLayout</a:t>
            </a:r>
            <a:r>
              <a:rPr lang="es-ES" dirty="0">
                <a:latin typeface="Consolas"/>
                <a:ea typeface="+mn-lt"/>
                <a:cs typeface="+mn-lt"/>
              </a:rPr>
              <a:t>&gt;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endParaRPr lang="es-ES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823040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05D66-425E-AF1F-2387-8342A1BCC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Ejemplo Básico: Clase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6FB45A-D322-AE4E-5886-A50B54DC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s-ES" dirty="0" err="1">
                <a:latin typeface="Consolas"/>
                <a:ea typeface="+mn-lt"/>
                <a:cs typeface="+mn-lt"/>
              </a:rPr>
              <a:t>class</a:t>
            </a:r>
            <a:r>
              <a:rPr lang="es-ES" dirty="0">
                <a:latin typeface="Consolas"/>
                <a:ea typeface="+mn-lt"/>
                <a:cs typeface="+mn-lt"/>
              </a:rPr>
              <a:t> </a:t>
            </a:r>
            <a:r>
              <a:rPr lang="es-ES" dirty="0" err="1">
                <a:latin typeface="Consolas"/>
                <a:ea typeface="+mn-lt"/>
                <a:cs typeface="+mn-lt"/>
              </a:rPr>
              <a:t>MiFragment</a:t>
            </a:r>
            <a:r>
              <a:rPr lang="es-ES" dirty="0">
                <a:latin typeface="Consolas"/>
                <a:ea typeface="+mn-lt"/>
                <a:cs typeface="+mn-lt"/>
              </a:rPr>
              <a:t> : </a:t>
            </a:r>
            <a:r>
              <a:rPr lang="es-ES" dirty="0" err="1">
                <a:latin typeface="Consolas"/>
                <a:ea typeface="+mn-lt"/>
                <a:cs typeface="+mn-lt"/>
              </a:rPr>
              <a:t>Fragment</a:t>
            </a:r>
            <a:r>
              <a:rPr lang="es-ES" dirty="0">
                <a:latin typeface="Consolas"/>
                <a:ea typeface="+mn-lt"/>
                <a:cs typeface="+mn-lt"/>
              </a:rPr>
              <a:t>() {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 </a:t>
            </a:r>
            <a:r>
              <a:rPr lang="es-ES" dirty="0" err="1">
                <a:latin typeface="Consolas"/>
                <a:ea typeface="+mn-lt"/>
                <a:cs typeface="+mn-lt"/>
              </a:rPr>
              <a:t>override</a:t>
            </a:r>
            <a:r>
              <a:rPr lang="es-ES" dirty="0">
                <a:latin typeface="Consolas"/>
                <a:ea typeface="+mn-lt"/>
                <a:cs typeface="+mn-lt"/>
              </a:rPr>
              <a:t> </a:t>
            </a:r>
            <a:r>
              <a:rPr lang="es-ES" dirty="0" err="1">
                <a:latin typeface="Consolas"/>
                <a:ea typeface="+mn-lt"/>
                <a:cs typeface="+mn-lt"/>
              </a:rPr>
              <a:t>fun</a:t>
            </a:r>
            <a:r>
              <a:rPr lang="es-ES" dirty="0">
                <a:latin typeface="Consolas"/>
                <a:ea typeface="+mn-lt"/>
                <a:cs typeface="+mn-lt"/>
              </a:rPr>
              <a:t> </a:t>
            </a:r>
            <a:r>
              <a:rPr lang="es-ES" dirty="0" err="1">
                <a:latin typeface="Consolas"/>
                <a:ea typeface="+mn-lt"/>
                <a:cs typeface="+mn-lt"/>
              </a:rPr>
              <a:t>onCreateView</a:t>
            </a:r>
            <a:r>
              <a:rPr lang="es-ES" dirty="0">
                <a:latin typeface="Consolas"/>
                <a:ea typeface="+mn-lt"/>
                <a:cs typeface="+mn-lt"/>
              </a:rPr>
              <a:t>(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     </a:t>
            </a:r>
            <a:r>
              <a:rPr lang="es-ES" dirty="0" err="1">
                <a:latin typeface="Consolas"/>
                <a:ea typeface="+mn-lt"/>
                <a:cs typeface="+mn-lt"/>
              </a:rPr>
              <a:t>inflater</a:t>
            </a:r>
            <a:r>
              <a:rPr lang="es-ES" dirty="0">
                <a:latin typeface="Consolas"/>
                <a:ea typeface="+mn-lt"/>
                <a:cs typeface="+mn-lt"/>
              </a:rPr>
              <a:t>: </a:t>
            </a:r>
            <a:r>
              <a:rPr lang="es-ES" dirty="0" err="1">
                <a:latin typeface="Consolas"/>
                <a:ea typeface="+mn-lt"/>
                <a:cs typeface="+mn-lt"/>
              </a:rPr>
              <a:t>LayoutInflater</a:t>
            </a:r>
            <a:r>
              <a:rPr lang="es-ES" dirty="0">
                <a:latin typeface="Consolas"/>
                <a:ea typeface="+mn-lt"/>
                <a:cs typeface="+mn-lt"/>
              </a:rPr>
              <a:t>, container: </a:t>
            </a:r>
            <a:r>
              <a:rPr lang="es-ES" dirty="0" err="1">
                <a:latin typeface="Consolas"/>
                <a:ea typeface="+mn-lt"/>
                <a:cs typeface="+mn-lt"/>
              </a:rPr>
              <a:t>ViewGroup</a:t>
            </a:r>
            <a:r>
              <a:rPr lang="es-ES" dirty="0">
                <a:latin typeface="Consolas"/>
                <a:ea typeface="+mn-lt"/>
                <a:cs typeface="+mn-lt"/>
              </a:rPr>
              <a:t>?,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     </a:t>
            </a:r>
            <a:r>
              <a:rPr lang="es-ES" err="1">
                <a:latin typeface="Consolas"/>
                <a:ea typeface="+mn-lt"/>
                <a:cs typeface="+mn-lt"/>
              </a:rPr>
              <a:t>savedInstanceState</a:t>
            </a:r>
            <a:r>
              <a:rPr lang="es-ES" dirty="0">
                <a:latin typeface="Consolas"/>
                <a:ea typeface="+mn-lt"/>
                <a:cs typeface="+mn-lt"/>
              </a:rPr>
              <a:t>: </a:t>
            </a:r>
            <a:r>
              <a:rPr lang="es-ES" err="1">
                <a:latin typeface="Consolas"/>
                <a:ea typeface="+mn-lt"/>
                <a:cs typeface="+mn-lt"/>
              </a:rPr>
              <a:t>Bundle</a:t>
            </a:r>
            <a:r>
              <a:rPr lang="es-ES" dirty="0">
                <a:latin typeface="Consolas"/>
                <a:ea typeface="+mn-lt"/>
                <a:cs typeface="+mn-lt"/>
              </a:rPr>
              <a:t>?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 ): View? {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     // Infla el </a:t>
            </a:r>
            <a:r>
              <a:rPr lang="es-ES" err="1">
                <a:latin typeface="Consolas"/>
                <a:ea typeface="+mn-lt"/>
                <a:cs typeface="+mn-lt"/>
              </a:rPr>
              <a:t>layout</a:t>
            </a:r>
            <a:r>
              <a:rPr lang="es-ES" dirty="0">
                <a:latin typeface="Consolas"/>
                <a:ea typeface="+mn-lt"/>
                <a:cs typeface="+mn-lt"/>
              </a:rPr>
              <a:t> del </a:t>
            </a:r>
            <a:r>
              <a:rPr lang="es-ES" err="1">
                <a:latin typeface="Consolas"/>
                <a:ea typeface="+mn-lt"/>
                <a:cs typeface="+mn-lt"/>
              </a:rPr>
              <a:t>fragment</a:t>
            </a:r>
            <a:endParaRPr lang="es-ES" err="1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     </a:t>
            </a:r>
            <a:r>
              <a:rPr lang="es-ES" err="1">
                <a:latin typeface="Consolas"/>
                <a:ea typeface="+mn-lt"/>
                <a:cs typeface="+mn-lt"/>
              </a:rPr>
              <a:t>return</a:t>
            </a:r>
            <a:r>
              <a:rPr lang="es-ES" dirty="0">
                <a:latin typeface="Consolas"/>
                <a:ea typeface="+mn-lt"/>
                <a:cs typeface="+mn-lt"/>
              </a:rPr>
              <a:t> </a:t>
            </a:r>
            <a:r>
              <a:rPr lang="es-ES" err="1">
                <a:latin typeface="Consolas"/>
                <a:ea typeface="+mn-lt"/>
                <a:cs typeface="+mn-lt"/>
              </a:rPr>
              <a:t>inflater.inflate</a:t>
            </a:r>
            <a:r>
              <a:rPr lang="es-ES" dirty="0">
                <a:latin typeface="Consolas"/>
                <a:ea typeface="+mn-lt"/>
                <a:cs typeface="+mn-lt"/>
              </a:rPr>
              <a:t>(</a:t>
            </a:r>
            <a:r>
              <a:rPr lang="es-ES" err="1">
                <a:latin typeface="Consolas"/>
                <a:ea typeface="+mn-lt"/>
                <a:cs typeface="+mn-lt"/>
              </a:rPr>
              <a:t>R.layout.fragment_mi</a:t>
            </a:r>
            <a:r>
              <a:rPr lang="es-ES" dirty="0">
                <a:latin typeface="Consolas"/>
                <a:ea typeface="+mn-lt"/>
                <a:cs typeface="+mn-lt"/>
              </a:rPr>
              <a:t>, container, false)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 }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}</a:t>
            </a:r>
            <a:endParaRPr lang="es-ES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302374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E3139-DA60-67C1-6653-41B32C5F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</a:t>
            </a:r>
            <a:r>
              <a:rPr lang="es-ES" dirty="0" err="1"/>
              <a:t>Basico</a:t>
            </a:r>
            <a:r>
              <a:rPr lang="es-ES" dirty="0"/>
              <a:t>: </a:t>
            </a:r>
            <a:r>
              <a:rPr lang="es-ES" dirty="0" err="1"/>
              <a:t>Activity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AC2F7D-0BFF-3F39-DAB2-37D853A26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s-ES" err="1">
                <a:latin typeface="Consolas"/>
                <a:ea typeface="+mn-lt"/>
                <a:cs typeface="+mn-lt"/>
              </a:rPr>
              <a:t>class</a:t>
            </a:r>
            <a:r>
              <a:rPr lang="es-ES" dirty="0">
                <a:latin typeface="Consolas"/>
                <a:ea typeface="+mn-lt"/>
                <a:cs typeface="+mn-lt"/>
              </a:rPr>
              <a:t> </a:t>
            </a:r>
            <a:r>
              <a:rPr lang="es-ES" err="1">
                <a:latin typeface="Consolas"/>
                <a:ea typeface="+mn-lt"/>
                <a:cs typeface="+mn-lt"/>
              </a:rPr>
              <a:t>MainActivity</a:t>
            </a:r>
            <a:r>
              <a:rPr lang="es-ES" dirty="0">
                <a:latin typeface="Consolas"/>
                <a:ea typeface="+mn-lt"/>
                <a:cs typeface="+mn-lt"/>
              </a:rPr>
              <a:t> : </a:t>
            </a:r>
            <a:r>
              <a:rPr lang="es-ES" err="1">
                <a:latin typeface="Consolas"/>
                <a:ea typeface="+mn-lt"/>
                <a:cs typeface="+mn-lt"/>
              </a:rPr>
              <a:t>AppCompatActivity</a:t>
            </a:r>
            <a:r>
              <a:rPr lang="es-ES" dirty="0">
                <a:latin typeface="Consolas"/>
                <a:ea typeface="+mn-lt"/>
                <a:cs typeface="+mn-lt"/>
              </a:rPr>
              <a:t>() {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 </a:t>
            </a:r>
            <a:r>
              <a:rPr lang="es-ES" dirty="0" err="1">
                <a:latin typeface="Consolas"/>
                <a:ea typeface="+mn-lt"/>
                <a:cs typeface="+mn-lt"/>
              </a:rPr>
              <a:t>override</a:t>
            </a:r>
            <a:r>
              <a:rPr lang="es-ES" dirty="0">
                <a:latin typeface="Consolas"/>
                <a:ea typeface="+mn-lt"/>
                <a:cs typeface="+mn-lt"/>
              </a:rPr>
              <a:t> </a:t>
            </a:r>
            <a:r>
              <a:rPr lang="es-ES" dirty="0" err="1">
                <a:latin typeface="Consolas"/>
                <a:ea typeface="+mn-lt"/>
                <a:cs typeface="+mn-lt"/>
              </a:rPr>
              <a:t>fun</a:t>
            </a:r>
            <a:r>
              <a:rPr lang="es-ES" dirty="0">
                <a:latin typeface="Consolas"/>
                <a:ea typeface="+mn-lt"/>
                <a:cs typeface="+mn-lt"/>
              </a:rPr>
              <a:t> </a:t>
            </a:r>
            <a:r>
              <a:rPr lang="es-ES" dirty="0" err="1">
                <a:latin typeface="Consolas"/>
                <a:ea typeface="+mn-lt"/>
                <a:cs typeface="+mn-lt"/>
              </a:rPr>
              <a:t>onCreate</a:t>
            </a:r>
            <a:r>
              <a:rPr lang="es-ES" dirty="0">
                <a:latin typeface="Consolas"/>
                <a:ea typeface="+mn-lt"/>
                <a:cs typeface="+mn-lt"/>
              </a:rPr>
              <a:t>(</a:t>
            </a:r>
            <a:r>
              <a:rPr lang="es-ES" dirty="0" err="1">
                <a:latin typeface="Consolas"/>
                <a:ea typeface="+mn-lt"/>
                <a:cs typeface="+mn-lt"/>
              </a:rPr>
              <a:t>savedInstanceState</a:t>
            </a:r>
            <a:r>
              <a:rPr lang="es-ES" dirty="0">
                <a:latin typeface="Consolas"/>
                <a:ea typeface="+mn-lt"/>
                <a:cs typeface="+mn-lt"/>
              </a:rPr>
              <a:t>: </a:t>
            </a:r>
            <a:r>
              <a:rPr lang="es-ES" dirty="0" err="1">
                <a:latin typeface="Consolas"/>
                <a:ea typeface="+mn-lt"/>
                <a:cs typeface="+mn-lt"/>
              </a:rPr>
              <a:t>Bundle</a:t>
            </a:r>
            <a:r>
              <a:rPr lang="es-ES" dirty="0">
                <a:latin typeface="Consolas"/>
                <a:ea typeface="+mn-lt"/>
                <a:cs typeface="+mn-lt"/>
              </a:rPr>
              <a:t>?) {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     </a:t>
            </a:r>
            <a:r>
              <a:rPr lang="es-ES" dirty="0" err="1">
                <a:latin typeface="Consolas"/>
                <a:ea typeface="+mn-lt"/>
                <a:cs typeface="+mn-lt"/>
              </a:rPr>
              <a:t>super.onCreate</a:t>
            </a:r>
            <a:r>
              <a:rPr lang="es-ES" dirty="0">
                <a:latin typeface="Consolas"/>
                <a:ea typeface="+mn-lt"/>
                <a:cs typeface="+mn-lt"/>
              </a:rPr>
              <a:t>(</a:t>
            </a:r>
            <a:r>
              <a:rPr lang="es-ES" dirty="0" err="1">
                <a:latin typeface="Consolas"/>
                <a:ea typeface="+mn-lt"/>
                <a:cs typeface="+mn-lt"/>
              </a:rPr>
              <a:t>savedInstanceState</a:t>
            </a:r>
            <a:r>
              <a:rPr lang="es-ES" dirty="0">
                <a:latin typeface="Consolas"/>
                <a:ea typeface="+mn-lt"/>
                <a:cs typeface="+mn-lt"/>
              </a:rPr>
              <a:t>)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     </a:t>
            </a:r>
            <a:r>
              <a:rPr lang="es-ES" err="1">
                <a:latin typeface="Consolas"/>
                <a:ea typeface="+mn-lt"/>
                <a:cs typeface="+mn-lt"/>
              </a:rPr>
              <a:t>setContentView</a:t>
            </a:r>
            <a:r>
              <a:rPr lang="es-ES" dirty="0">
                <a:latin typeface="Consolas"/>
                <a:ea typeface="+mn-lt"/>
                <a:cs typeface="+mn-lt"/>
              </a:rPr>
              <a:t>(</a:t>
            </a:r>
            <a:r>
              <a:rPr lang="es-ES" err="1">
                <a:latin typeface="Consolas"/>
                <a:ea typeface="+mn-lt"/>
                <a:cs typeface="+mn-lt"/>
              </a:rPr>
              <a:t>R.layout.activity_main</a:t>
            </a:r>
            <a:r>
              <a:rPr lang="es-ES" dirty="0">
                <a:latin typeface="Consolas"/>
                <a:ea typeface="+mn-lt"/>
                <a:cs typeface="+mn-lt"/>
              </a:rPr>
              <a:t>)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     // Agrega el </a:t>
            </a:r>
            <a:r>
              <a:rPr lang="es-ES" dirty="0" err="1">
                <a:latin typeface="Consolas"/>
                <a:ea typeface="+mn-lt"/>
                <a:cs typeface="+mn-lt"/>
              </a:rPr>
              <a:t>fragment</a:t>
            </a:r>
            <a:r>
              <a:rPr lang="es-ES" dirty="0">
                <a:latin typeface="Consolas"/>
                <a:ea typeface="+mn-lt"/>
                <a:cs typeface="+mn-lt"/>
              </a:rPr>
              <a:t> dinámicamente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     </a:t>
            </a:r>
            <a:r>
              <a:rPr lang="es-ES" dirty="0" err="1">
                <a:latin typeface="Consolas"/>
                <a:ea typeface="+mn-lt"/>
                <a:cs typeface="+mn-lt"/>
              </a:rPr>
              <a:t>supportFragmentManager.beginTransaction</a:t>
            </a:r>
            <a:r>
              <a:rPr lang="es-ES" dirty="0">
                <a:latin typeface="Consolas"/>
                <a:ea typeface="+mn-lt"/>
                <a:cs typeface="+mn-lt"/>
              </a:rPr>
              <a:t>()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         .</a:t>
            </a:r>
            <a:r>
              <a:rPr lang="es-ES" dirty="0" err="1">
                <a:latin typeface="Consolas"/>
                <a:ea typeface="+mn-lt"/>
                <a:cs typeface="+mn-lt"/>
              </a:rPr>
              <a:t>replace</a:t>
            </a:r>
            <a:r>
              <a:rPr lang="es-ES" dirty="0">
                <a:latin typeface="Consolas"/>
                <a:ea typeface="+mn-lt"/>
                <a:cs typeface="+mn-lt"/>
              </a:rPr>
              <a:t>(</a:t>
            </a:r>
            <a:r>
              <a:rPr lang="es-ES" dirty="0" err="1">
                <a:latin typeface="Consolas"/>
                <a:ea typeface="+mn-lt"/>
                <a:cs typeface="+mn-lt"/>
              </a:rPr>
              <a:t>R.id.contenedor_fragmento</a:t>
            </a:r>
            <a:r>
              <a:rPr lang="es-ES" dirty="0">
                <a:latin typeface="Consolas"/>
                <a:ea typeface="+mn-lt"/>
                <a:cs typeface="+mn-lt"/>
              </a:rPr>
              <a:t>, </a:t>
            </a:r>
            <a:r>
              <a:rPr lang="es-ES" dirty="0" err="1">
                <a:latin typeface="Consolas"/>
                <a:ea typeface="+mn-lt"/>
                <a:cs typeface="+mn-lt"/>
              </a:rPr>
              <a:t>MiFragment</a:t>
            </a:r>
            <a:r>
              <a:rPr lang="es-ES" dirty="0">
                <a:latin typeface="Consolas"/>
                <a:ea typeface="+mn-lt"/>
                <a:cs typeface="+mn-lt"/>
              </a:rPr>
              <a:t>())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         .</a:t>
            </a:r>
            <a:r>
              <a:rPr lang="es-ES" dirty="0" err="1">
                <a:latin typeface="Consolas"/>
                <a:ea typeface="+mn-lt"/>
                <a:cs typeface="+mn-lt"/>
              </a:rPr>
              <a:t>commit</a:t>
            </a:r>
            <a:r>
              <a:rPr lang="es-ES" dirty="0">
                <a:latin typeface="Consolas"/>
                <a:ea typeface="+mn-lt"/>
                <a:cs typeface="+mn-lt"/>
              </a:rPr>
              <a:t>()</a:t>
            </a:r>
            <a:endParaRPr lang="es-ES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    }</a:t>
            </a:r>
            <a:endParaRPr lang="es-ES" dirty="0">
              <a:latin typeface="Consolas"/>
            </a:endParaRPr>
          </a:p>
          <a:p>
            <a:pPr marL="0" indent="0">
              <a:buNone/>
            </a:pPr>
            <a:r>
              <a:rPr lang="es-ES" dirty="0">
                <a:latin typeface="Consolas"/>
                <a:ea typeface="+mn-lt"/>
                <a:cs typeface="+mn-lt"/>
              </a:rPr>
              <a:t>}</a:t>
            </a:r>
            <a:endParaRPr lang="es-ES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256182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22C8EF-BB29-DC1D-B3BD-6568825FF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</a:t>
            </a:r>
            <a:r>
              <a:rPr lang="es-ES" dirty="0" err="1"/>
              <a:t>Basico</a:t>
            </a:r>
            <a:r>
              <a:rPr lang="es-ES" dirty="0"/>
              <a:t>: </a:t>
            </a:r>
            <a:r>
              <a:rPr lang="es-ES" dirty="0" err="1"/>
              <a:t>Layout</a:t>
            </a:r>
            <a:r>
              <a:rPr lang="es-ES" dirty="0"/>
              <a:t> de la </a:t>
            </a:r>
            <a:r>
              <a:rPr lang="es-ES" dirty="0" err="1"/>
              <a:t>Activity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11E1ED-293A-2D3C-36A9-C10BEA644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ea typeface="+mn-lt"/>
                <a:cs typeface="+mn-lt"/>
              </a:rPr>
              <a:t>&lt;</a:t>
            </a:r>
            <a:r>
              <a:rPr lang="es-ES" err="1">
                <a:ea typeface="+mn-lt"/>
                <a:cs typeface="+mn-lt"/>
              </a:rPr>
              <a:t>FrameLayout</a:t>
            </a:r>
            <a:endParaRPr lang="es-ES" err="1"/>
          </a:p>
          <a:p>
            <a:r>
              <a:rPr lang="es-ES" dirty="0">
                <a:ea typeface="+mn-lt"/>
                <a:cs typeface="+mn-lt"/>
              </a:rPr>
              <a:t>    </a:t>
            </a:r>
            <a:r>
              <a:rPr lang="es-ES" err="1">
                <a:ea typeface="+mn-lt"/>
                <a:cs typeface="+mn-lt"/>
              </a:rPr>
              <a:t>xmlns:android</a:t>
            </a:r>
            <a:r>
              <a:rPr lang="es-ES">
                <a:ea typeface="+mn-lt"/>
                <a:cs typeface="+mn-lt"/>
              </a:rPr>
              <a:t>="http://schemas.android.com/</a:t>
            </a:r>
            <a:r>
              <a:rPr lang="es-ES" err="1">
                <a:ea typeface="+mn-lt"/>
                <a:cs typeface="+mn-lt"/>
              </a:rPr>
              <a:t>apk</a:t>
            </a:r>
            <a:r>
              <a:rPr lang="es-ES">
                <a:ea typeface="+mn-lt"/>
                <a:cs typeface="+mn-lt"/>
              </a:rPr>
              <a:t>/</a:t>
            </a:r>
            <a:r>
              <a:rPr lang="es-ES" err="1">
                <a:ea typeface="+mn-lt"/>
                <a:cs typeface="+mn-lt"/>
              </a:rPr>
              <a:t>res</a:t>
            </a:r>
            <a:r>
              <a:rPr lang="es-ES">
                <a:ea typeface="+mn-lt"/>
                <a:cs typeface="+mn-lt"/>
              </a:rPr>
              <a:t>/</a:t>
            </a:r>
            <a:r>
              <a:rPr lang="es-ES" err="1">
                <a:ea typeface="+mn-lt"/>
                <a:cs typeface="+mn-lt"/>
              </a:rPr>
              <a:t>android</a:t>
            </a:r>
            <a:r>
              <a:rPr lang="es-ES">
                <a:ea typeface="+mn-lt"/>
                <a:cs typeface="+mn-lt"/>
              </a:rPr>
              <a:t>"</a:t>
            </a:r>
            <a:endParaRPr lang="es-ES"/>
          </a:p>
          <a:p>
            <a:r>
              <a:rPr lang="es-ES" dirty="0">
                <a:ea typeface="+mn-lt"/>
                <a:cs typeface="+mn-lt"/>
              </a:rPr>
              <a:t>    </a:t>
            </a:r>
            <a:r>
              <a:rPr lang="es-ES" err="1">
                <a:ea typeface="+mn-lt"/>
                <a:cs typeface="+mn-lt"/>
              </a:rPr>
              <a:t>android:id</a:t>
            </a:r>
            <a:r>
              <a:rPr lang="es-ES">
                <a:ea typeface="+mn-lt"/>
                <a:cs typeface="+mn-lt"/>
              </a:rPr>
              <a:t>="@+id/</a:t>
            </a:r>
            <a:r>
              <a:rPr lang="es-ES" err="1">
                <a:ea typeface="+mn-lt"/>
                <a:cs typeface="+mn-lt"/>
              </a:rPr>
              <a:t>contenedor_fragmento</a:t>
            </a:r>
            <a:r>
              <a:rPr lang="es-ES">
                <a:ea typeface="+mn-lt"/>
                <a:cs typeface="+mn-lt"/>
              </a:rPr>
              <a:t>"</a:t>
            </a:r>
            <a:endParaRPr lang="es-ES"/>
          </a:p>
          <a:p>
            <a:r>
              <a:rPr lang="es-ES" dirty="0">
                <a:ea typeface="+mn-lt"/>
                <a:cs typeface="+mn-lt"/>
              </a:rPr>
              <a:t>    </a:t>
            </a:r>
            <a:r>
              <a:rPr lang="es-ES" err="1">
                <a:ea typeface="+mn-lt"/>
                <a:cs typeface="+mn-lt"/>
              </a:rPr>
              <a:t>android:layout_width</a:t>
            </a:r>
            <a:r>
              <a:rPr lang="es-ES">
                <a:ea typeface="+mn-lt"/>
                <a:cs typeface="+mn-lt"/>
              </a:rPr>
              <a:t>="</a:t>
            </a:r>
            <a:r>
              <a:rPr lang="es-ES" err="1">
                <a:ea typeface="+mn-lt"/>
                <a:cs typeface="+mn-lt"/>
              </a:rPr>
              <a:t>match_parent</a:t>
            </a:r>
            <a:r>
              <a:rPr lang="es-ES">
                <a:ea typeface="+mn-lt"/>
                <a:cs typeface="+mn-lt"/>
              </a:rPr>
              <a:t>"</a:t>
            </a:r>
            <a:endParaRPr lang="es-ES"/>
          </a:p>
          <a:p>
            <a:r>
              <a:rPr lang="es-ES" dirty="0">
                <a:ea typeface="+mn-lt"/>
                <a:cs typeface="+mn-lt"/>
              </a:rPr>
              <a:t>    </a:t>
            </a:r>
            <a:r>
              <a:rPr lang="es-ES" err="1">
                <a:ea typeface="+mn-lt"/>
                <a:cs typeface="+mn-lt"/>
              </a:rPr>
              <a:t>android:layout_height</a:t>
            </a:r>
            <a:r>
              <a:rPr lang="es-ES">
                <a:ea typeface="+mn-lt"/>
                <a:cs typeface="+mn-lt"/>
              </a:rPr>
              <a:t>="</a:t>
            </a:r>
            <a:r>
              <a:rPr lang="es-ES" err="1">
                <a:ea typeface="+mn-lt"/>
                <a:cs typeface="+mn-lt"/>
              </a:rPr>
              <a:t>match_parent</a:t>
            </a:r>
            <a:r>
              <a:rPr lang="es-ES">
                <a:ea typeface="+mn-lt"/>
                <a:cs typeface="+mn-lt"/>
              </a:rPr>
              <a:t>"/&gt;</a:t>
            </a:r>
            <a:endParaRPr lang="es-ES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39676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092FE-F144-0602-ED5E-FC3F23194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0F0A0F-3D6D-F38B-92FB-D497B257D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ea typeface="+mn-lt"/>
                <a:cs typeface="+mn-lt"/>
              </a:rPr>
              <a:t>Los </a:t>
            </a:r>
            <a:r>
              <a:rPr lang="es-ES" dirty="0" err="1">
                <a:ea typeface="+mn-lt"/>
                <a:cs typeface="+mn-lt"/>
              </a:rPr>
              <a:t>Fragments</a:t>
            </a:r>
            <a:r>
              <a:rPr lang="es-ES" dirty="0">
                <a:ea typeface="+mn-lt"/>
                <a:cs typeface="+mn-lt"/>
              </a:rPr>
              <a:t> te permiten crear interfaces más flexibles y reutilizables.</a:t>
            </a:r>
            <a:endParaRPr lang="es-ES" dirty="0"/>
          </a:p>
          <a:p>
            <a:r>
              <a:rPr lang="es-ES" dirty="0">
                <a:ea typeface="+mn-lt"/>
                <a:cs typeface="+mn-lt"/>
              </a:rPr>
              <a:t>Son fundamentales en apps modernas con múltiples pantallas.</a:t>
            </a:r>
            <a:endParaRPr lang="es-ES" dirty="0"/>
          </a:p>
          <a:p>
            <a:r>
              <a:rPr lang="es-ES">
                <a:ea typeface="+mn-lt"/>
                <a:cs typeface="+mn-lt"/>
              </a:rPr>
              <a:t>Aprender </a:t>
            </a:r>
            <a:r>
              <a:rPr lang="es-ES" err="1">
                <a:ea typeface="+mn-lt"/>
                <a:cs typeface="+mn-lt"/>
              </a:rPr>
              <a:t>fragments</a:t>
            </a:r>
            <a:r>
              <a:rPr lang="es-ES">
                <a:ea typeface="+mn-lt"/>
                <a:cs typeface="+mn-lt"/>
              </a:rPr>
              <a:t> es clave para dominar:</a:t>
            </a:r>
            <a:endParaRPr lang="es-ES"/>
          </a:p>
          <a:p>
            <a:pPr lvl="1">
              <a:buFont typeface="Courier New" charset="2"/>
              <a:buChar char="o"/>
            </a:pPr>
            <a:r>
              <a:rPr lang="es-ES" err="1">
                <a:ea typeface="+mn-lt"/>
                <a:cs typeface="+mn-lt"/>
              </a:rPr>
              <a:t>Jetpack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Navigation</a:t>
            </a:r>
            <a:endParaRPr lang="es-ES"/>
          </a:p>
          <a:p>
            <a:pPr lvl="1">
              <a:buFont typeface="Courier New" charset="2"/>
              <a:buChar char="o"/>
            </a:pPr>
            <a:r>
              <a:rPr lang="es-ES">
                <a:ea typeface="+mn-lt"/>
                <a:cs typeface="+mn-lt"/>
              </a:rPr>
              <a:t>Arquitecturas modernas (MVVM)</a:t>
            </a:r>
            <a:endParaRPr lang="es-ES"/>
          </a:p>
          <a:p>
            <a:pPr lvl="1">
              <a:buFont typeface="Courier New" charset="2"/>
              <a:buChar char="o"/>
            </a:pPr>
            <a:r>
              <a:rPr lang="es-ES">
                <a:ea typeface="+mn-lt"/>
                <a:cs typeface="+mn-lt"/>
              </a:rPr>
              <a:t>Responsive UI (teléfonos/</a:t>
            </a:r>
            <a:r>
              <a:rPr lang="es-ES" err="1">
                <a:ea typeface="+mn-lt"/>
                <a:cs typeface="+mn-lt"/>
              </a:rPr>
              <a:t>tablets</a:t>
            </a:r>
            <a:r>
              <a:rPr lang="es-ES">
                <a:ea typeface="+mn-lt"/>
                <a:cs typeface="+mn-lt"/>
              </a:rPr>
              <a:t>)</a:t>
            </a:r>
            <a:endParaRPr lang="es-ES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22833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Ion Boardroom</vt:lpstr>
      <vt:lpstr>Android+Kotlin: Intro a Fragments</vt:lpstr>
      <vt:lpstr>Fragments</vt:lpstr>
      <vt:lpstr>Usos de Fragments</vt:lpstr>
      <vt:lpstr>Ciclo de Vida</vt:lpstr>
      <vt:lpstr>Estructura</vt:lpstr>
      <vt:lpstr>Ejemplo Basico: Layout XML</vt:lpstr>
      <vt:lpstr>Ejemplo Básico: Clase</vt:lpstr>
      <vt:lpstr>Ejemplo Basico: Activity</vt:lpstr>
      <vt:lpstr>Ejemplo Basico: Layout de la Activity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196</cp:revision>
  <dcterms:created xsi:type="dcterms:W3CDTF">2025-07-27T21:21:01Z</dcterms:created>
  <dcterms:modified xsi:type="dcterms:W3CDTF">2025-09-08T16:02:57Z</dcterms:modified>
</cp:coreProperties>
</file>